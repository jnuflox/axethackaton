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940" y="2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9042" y="1828800"/>
            <a:ext cx="8965917" cy="169277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1">
                <a:solidFill>
                  <a:srgbClr val="3B82F6"/>
                </a:solidFill>
              </a:defRPr>
            </a:pPr>
            <a:r>
              <a:rPr dirty="0"/>
              <a:t>Predictor </a:t>
            </a:r>
            <a:r>
              <a:rPr dirty="0" err="1"/>
              <a:t>Inteligente</a:t>
            </a:r>
            <a:r>
              <a:rPr dirty="0"/>
              <a:t> de </a:t>
            </a:r>
            <a:r>
              <a:rPr dirty="0" err="1"/>
              <a:t>Riesgos</a:t>
            </a:r>
            <a:endParaRPr dirty="0"/>
          </a:p>
          <a:p>
            <a:r>
              <a:rPr sz="5200" b="1" dirty="0">
                <a:solidFill>
                  <a:srgbClr val="3B82F6"/>
                </a:solidFill>
              </a:rPr>
              <a:t>y </a:t>
            </a:r>
            <a:r>
              <a:rPr sz="5200" b="1" dirty="0" err="1">
                <a:solidFill>
                  <a:srgbClr val="3B82F6"/>
                </a:solidFill>
              </a:rPr>
              <a:t>Rentabilidad</a:t>
            </a:r>
            <a:r>
              <a:rPr sz="5200" b="1" dirty="0">
                <a:solidFill>
                  <a:srgbClr val="3B82F6"/>
                </a:solidFill>
              </a:rPr>
              <a:t> </a:t>
            </a:r>
            <a:r>
              <a:rPr sz="5200" b="1" dirty="0" err="1">
                <a:solidFill>
                  <a:srgbClr val="3B82F6"/>
                </a:solidFill>
              </a:rPr>
              <a:t>en</a:t>
            </a:r>
            <a:r>
              <a:rPr sz="5200" b="1" dirty="0">
                <a:solidFill>
                  <a:srgbClr val="3B82F6"/>
                </a:solidFill>
              </a:rPr>
              <a:t> Proyectos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57341" y="3657600"/>
            <a:ext cx="522931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94A3B8"/>
                </a:solidFill>
              </a:defRPr>
            </a:pPr>
            <a:r>
              <a:rPr dirty="0"/>
              <a:t>Sistema de IA para </a:t>
            </a:r>
            <a:r>
              <a:rPr dirty="0" err="1"/>
              <a:t>predicción</a:t>
            </a:r>
            <a:r>
              <a:rPr dirty="0"/>
              <a:t> </a:t>
            </a:r>
            <a:r>
              <a:rPr dirty="0" err="1"/>
              <a:t>temprana</a:t>
            </a:r>
            <a:r>
              <a:rPr dirty="0"/>
              <a:t> con ROI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114800"/>
            <a:ext cx="5486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B82F6"/>
                </a:solidFill>
              </a:defRPr>
            </a:pPr>
            <a:r>
              <a:rPr dirty="0"/>
              <a:t> 🤖 IA PREDICTIVO  •  💰 ROI </a:t>
            </a:r>
            <a:r>
              <a:rPr lang="es-PE" dirty="0"/>
              <a:t>x.</a:t>
            </a:r>
            <a:r>
              <a:rPr dirty="0"/>
              <a:t>x</a:t>
            </a:r>
            <a:r>
              <a:rPr lang="es-PE" dirty="0"/>
              <a:t>%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EF4444"/>
                </a:solidFill>
              </a:defRPr>
            </a:pPr>
            <a:r>
              <a:rPr lang="es-PE" dirty="0"/>
              <a:t>+</a:t>
            </a:r>
            <a:r>
              <a:rPr lang="es-PE" dirty="0" err="1"/>
              <a:t>x.x</a:t>
            </a:r>
            <a:r>
              <a:rPr dirty="0"/>
              <a:t>% de los </a:t>
            </a:r>
            <a:r>
              <a:rPr dirty="0" err="1"/>
              <a:t>proyectos</a:t>
            </a:r>
            <a:r>
              <a:rPr dirty="0"/>
              <a:t> TI </a:t>
            </a:r>
            <a:r>
              <a:rPr dirty="0" err="1"/>
              <a:t>fallan</a:t>
            </a:r>
            <a:r>
              <a:rPr dirty="0"/>
              <a:t> o se </a:t>
            </a:r>
            <a:r>
              <a:rPr dirty="0" err="1"/>
              <a:t>retrasan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EF4444"/>
                </a:solidFill>
              </a:defRPr>
            </a:pPr>
            <a:r>
              <a:t>¿Por qué fallamos?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377440"/>
            <a:ext cx="393192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F8FAFC"/>
                </a:solidFill>
              </a:defRPr>
            </a:pPr>
            <a:r>
              <a:rPr sz="1400" dirty="0"/>
              <a:t>• </a:t>
            </a:r>
            <a:r>
              <a:rPr sz="1400" dirty="0" err="1"/>
              <a:t>Gestión</a:t>
            </a:r>
            <a:r>
              <a:rPr sz="1400" dirty="0"/>
              <a:t> </a:t>
            </a:r>
            <a:r>
              <a:rPr sz="1400" dirty="0" err="1"/>
              <a:t>en</a:t>
            </a:r>
            <a:r>
              <a:rPr sz="1400" dirty="0"/>
              <a:t> silos: Jira ≠ GitHub ≠ </a:t>
            </a:r>
            <a:r>
              <a:rPr sz="1400" dirty="0" err="1"/>
              <a:t>Finanzas</a:t>
            </a:r>
            <a:endParaRPr sz="1400" dirty="0"/>
          </a:p>
          <a:p>
            <a:r>
              <a:rPr sz="1400" dirty="0">
                <a:solidFill>
                  <a:schemeClr val="bg1"/>
                </a:solidFill>
              </a:rPr>
              <a:t>• </a:t>
            </a:r>
            <a:r>
              <a:rPr sz="1400" dirty="0" err="1">
                <a:solidFill>
                  <a:schemeClr val="bg1"/>
                </a:solidFill>
              </a:rPr>
              <a:t>Detección</a:t>
            </a:r>
            <a:r>
              <a:rPr sz="1400" dirty="0">
                <a:solidFill>
                  <a:schemeClr val="bg1"/>
                </a:solidFill>
              </a:rPr>
              <a:t> </a:t>
            </a:r>
            <a:r>
              <a:rPr sz="1400" dirty="0" err="1">
                <a:solidFill>
                  <a:schemeClr val="bg1"/>
                </a:solidFill>
              </a:rPr>
              <a:t>tardía</a:t>
            </a:r>
            <a:r>
              <a:rPr sz="1400" dirty="0">
                <a:solidFill>
                  <a:schemeClr val="bg1"/>
                </a:solidFill>
              </a:rPr>
              <a:t> de </a:t>
            </a:r>
            <a:r>
              <a:rPr sz="1400" dirty="0" err="1">
                <a:solidFill>
                  <a:schemeClr val="bg1"/>
                </a:solidFill>
              </a:rPr>
              <a:t>problemas</a:t>
            </a:r>
            <a:endParaRPr sz="1400" dirty="0">
              <a:solidFill>
                <a:schemeClr val="bg1"/>
              </a:solidFill>
            </a:endParaRPr>
          </a:p>
          <a:p>
            <a:r>
              <a:rPr sz="1400" dirty="0">
                <a:solidFill>
                  <a:schemeClr val="bg1"/>
                </a:solidFill>
              </a:rPr>
              <a:t>• </a:t>
            </a:r>
            <a:r>
              <a:rPr sz="1400" dirty="0" err="1">
                <a:solidFill>
                  <a:schemeClr val="bg1"/>
                </a:solidFill>
              </a:rPr>
              <a:t>Sobre-declaración</a:t>
            </a:r>
            <a:r>
              <a:rPr sz="1400" dirty="0">
                <a:solidFill>
                  <a:schemeClr val="bg1"/>
                </a:solidFill>
              </a:rPr>
              <a:t> </a:t>
            </a:r>
            <a:r>
              <a:rPr sz="1400" dirty="0" err="1">
                <a:solidFill>
                  <a:schemeClr val="bg1"/>
                </a:solidFill>
              </a:rPr>
              <a:t>oculta</a:t>
            </a:r>
            <a:endParaRPr sz="1400" dirty="0">
              <a:solidFill>
                <a:schemeClr val="bg1"/>
              </a:solidFill>
            </a:endParaRPr>
          </a:p>
          <a:p>
            <a:r>
              <a:rPr sz="1400" dirty="0">
                <a:solidFill>
                  <a:schemeClr val="bg1"/>
                </a:solidFill>
              </a:rPr>
              <a:t>• Issues "Done" sin </a:t>
            </a:r>
            <a:r>
              <a:rPr sz="1400" dirty="0" err="1">
                <a:solidFill>
                  <a:schemeClr val="bg1"/>
                </a:solidFill>
              </a:rPr>
              <a:t>código</a:t>
            </a:r>
            <a:r>
              <a:rPr sz="1400" dirty="0">
                <a:solidFill>
                  <a:schemeClr val="bg1"/>
                </a:solidFill>
              </a:rPr>
              <a:t> real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92024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59E0B"/>
                </a:solidFill>
              </a:defRPr>
            </a:pPr>
            <a:r>
              <a:t>Costo Típico ($500K)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2377440"/>
            <a:ext cx="393192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10B981"/>
                </a:solidFill>
              </a:defRPr>
            </a:pPr>
            <a:r>
              <a:rPr sz="1400" b="1" dirty="0" err="1"/>
              <a:t>Sobrecosto</a:t>
            </a:r>
            <a:r>
              <a:rPr sz="1400" b="1" dirty="0"/>
              <a:t>: </a:t>
            </a:r>
            <a:endParaRPr lang="es-PE" sz="1400" b="1" dirty="0"/>
          </a:p>
          <a:p>
            <a:pPr>
              <a:defRPr sz="1300" b="0">
                <a:solidFill>
                  <a:srgbClr val="10B981"/>
                </a:solidFill>
              </a:defRPr>
            </a:pPr>
            <a:r>
              <a:rPr sz="1400" dirty="0" err="1">
                <a:solidFill>
                  <a:schemeClr val="bg1"/>
                </a:solidFill>
              </a:rPr>
              <a:t>Penalizaciones</a:t>
            </a:r>
            <a:r>
              <a:rPr sz="1400" dirty="0">
                <a:solidFill>
                  <a:schemeClr val="bg1"/>
                </a:solidFill>
              </a:rPr>
              <a:t> SLA:</a:t>
            </a:r>
          </a:p>
          <a:p>
            <a:r>
              <a:rPr sz="1400" dirty="0" err="1">
                <a:solidFill>
                  <a:schemeClr val="bg1"/>
                </a:solidFill>
              </a:rPr>
              <a:t>Margen</a:t>
            </a:r>
            <a:r>
              <a:rPr sz="1400" dirty="0">
                <a:solidFill>
                  <a:schemeClr val="bg1"/>
                </a:solidFill>
              </a:rPr>
              <a:t>:</a:t>
            </a:r>
          </a:p>
          <a:p>
            <a:r>
              <a:rPr sz="1400" dirty="0">
                <a:solidFill>
                  <a:schemeClr val="bg1"/>
                </a:solidFill>
              </a:rPr>
              <a:t>═══════════════════</a:t>
            </a:r>
          </a:p>
          <a:p>
            <a:r>
              <a:rPr sz="1400" dirty="0">
                <a:solidFill>
                  <a:schemeClr val="bg1"/>
                </a:solidFill>
              </a:rPr>
              <a:t>Pérdida </a:t>
            </a:r>
            <a:r>
              <a:rPr lang="es-PE" sz="1400" dirty="0">
                <a:solidFill>
                  <a:schemeClr val="bg1"/>
                </a:solidFill>
              </a:rPr>
              <a:t>en </a:t>
            </a:r>
            <a:r>
              <a:rPr sz="1400" dirty="0" err="1">
                <a:solidFill>
                  <a:schemeClr val="bg1"/>
                </a:solidFill>
              </a:rPr>
              <a:t>proyecto</a:t>
            </a:r>
            <a:endParaRPr sz="140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754880" y="384048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B82F6"/>
                </a:solidFill>
              </a:defRPr>
            </a:pPr>
            <a:r>
              <a:t>↓ Detecta 4 semanas ANTES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3B82F6"/>
                </a:solidFill>
              </a:defRPr>
            </a:pPr>
            <a:r>
              <a:t>La Solución: Visión 360° Predictiva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B82F6"/>
                </a:solidFill>
              </a:defRPr>
            </a:pPr>
            <a:r>
              <a:t>CAPA 1: Contractual y Financiera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94A3B8"/>
                </a:solidFill>
              </a:defRPr>
            </a:pPr>
            <a:r>
              <a:t>📄 SLAs • 💼 CM% L1 • 💰 ONE ERP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8B5CF6"/>
                </a:solidFill>
              </a:defRPr>
            </a:pPr>
            <a:r>
              <a:t>CAPA 2: Gestión de Proyecto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031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94A3B8"/>
                </a:solidFill>
              </a:defRPr>
            </a:pPr>
            <a:r>
              <a:t>📋 Jira • 📅 Cronogramas • 📊 Histórico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688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🎯 CAPA 3: Validación Técnica CLAVE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7432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94A3B8"/>
                </a:solidFill>
              </a:defRPr>
            </a:pPr>
            <a:r>
              <a:t>💻 GitHub/GitLab • 🧪 SonarQube • ✅ Criterios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108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C4899"/>
                </a:solidFill>
              </a:defRPr>
            </a:pPr>
            <a:r>
              <a:t>CAPA 4: Motor IA Predictiva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383279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94A3B8"/>
                </a:solidFill>
              </a:defRPr>
            </a:pPr>
            <a:r>
              <a:t>🤖 ML • 🔍 Anomalías • 🧠 NLP • 📈 Patrones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F4444"/>
                </a:solidFill>
              </a:defRPr>
            </a:pPr>
            <a:r>
              <a:t>⚠️ RESULTADO: ALERTAS PREDICTIVAS + RECOMENDACIONES ACCIONABLES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3B82F6"/>
                </a:solidFill>
              </a:defRPr>
            </a:pPr>
            <a:r>
              <a:t>Flujo Completo: Del Problema a la Acción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B82F6"/>
                </a:solidFill>
              </a:defRPr>
            </a:pPr>
            <a:r>
              <a:t>1. INGESTA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77440" y="1188720"/>
            <a:ext cx="6309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8FAFC"/>
                </a:solidFill>
              </a:defRPr>
            </a:pPr>
            <a:r>
              <a:t>Conecta Jira, GitHub, SonarQube, ERP → Data Lake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B82F6"/>
                </a:solidFill>
              </a:defRPr>
            </a:pPr>
            <a:r>
              <a:t>2. VALIDACIÓN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0" y="1828800"/>
            <a:ext cx="6309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8FAFC"/>
                </a:solidFill>
              </a:defRPr>
            </a:pPr>
            <a:r>
              <a:t>Issue 'Done' → ¿Hay código? ¿Tests? ¿Calidad?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68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B82F6"/>
                </a:solidFill>
              </a:defRPr>
            </a:pPr>
            <a:r>
              <a:t>3. PREDICCIÓN 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2468880"/>
            <a:ext cx="6309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8FAFC"/>
                </a:solidFill>
              </a:defRPr>
            </a:pPr>
            <a:r>
              <a:rPr lang="es-PE" dirty="0"/>
              <a:t>73</a:t>
            </a:r>
            <a:r>
              <a:rPr dirty="0"/>
              <a:t>% prob. </a:t>
            </a:r>
            <a:r>
              <a:rPr dirty="0" err="1"/>
              <a:t>retraso</a:t>
            </a:r>
            <a:r>
              <a:rPr dirty="0"/>
              <a:t> | $</a:t>
            </a:r>
            <a:r>
              <a:rPr lang="es-PE" dirty="0"/>
              <a:t>67</a:t>
            </a:r>
            <a:r>
              <a:rPr dirty="0"/>
              <a:t>K </a:t>
            </a:r>
            <a:r>
              <a:rPr dirty="0" err="1"/>
              <a:t>sobrecosto</a:t>
            </a:r>
            <a:r>
              <a:rPr dirty="0"/>
              <a:t> | </a:t>
            </a:r>
            <a:r>
              <a:rPr dirty="0" err="1"/>
              <a:t>Margen</a:t>
            </a:r>
            <a:r>
              <a:rPr dirty="0"/>
              <a:t>:</a:t>
            </a:r>
            <a:r>
              <a:rPr lang="es-PE" dirty="0"/>
              <a:t> 18%→10%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1089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B82F6"/>
                </a:solidFill>
              </a:defRPr>
            </a:pPr>
            <a:r>
              <a:t>4. ALERTAS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3108960"/>
            <a:ext cx="6309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8FAFC"/>
                </a:solidFill>
              </a:defRPr>
            </a:pPr>
            <a:r>
              <a:t>RIESGO ALTO: 5 historias sin código | Brecha 23%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74903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B82F6"/>
                </a:solidFill>
              </a:defRPr>
            </a:pPr>
            <a:r>
              <a:t>5. ACCIÓN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3749039"/>
            <a:ext cx="6309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8FAFC"/>
                </a:solidFill>
              </a:defRPr>
            </a:pPr>
            <a:r>
              <a:t>Plan: Bloquear issues + Reunión CFO + Refactoring ($14K → Ahorra $67K)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3B82F6"/>
                </a:solidFill>
              </a:defRPr>
            </a:pPr>
            <a:r>
              <a:t>Alerta en Acción: Caso Real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EF4444"/>
                </a:solidFill>
              </a:defRPr>
            </a:pPr>
            <a:r>
              <a:t>🚨 ALERTA CRÍTICA: Entrega Q1 en Riesgo Alto (73% probabilidad)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41148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8FAFC"/>
                </a:solidFill>
              </a:defRPr>
            </a:pPr>
            <a:r>
              <a:rPr sz="1200" dirty="0">
                <a:solidFill>
                  <a:schemeClr val="bg1"/>
                </a:solidFill>
              </a:rPr>
              <a:t>🔍 </a:t>
            </a:r>
            <a:r>
              <a:rPr sz="1200" dirty="0" err="1">
                <a:solidFill>
                  <a:schemeClr val="bg1"/>
                </a:solidFill>
              </a:rPr>
              <a:t>Causas</a:t>
            </a:r>
            <a:r>
              <a:rPr sz="1200" dirty="0">
                <a:solidFill>
                  <a:schemeClr val="bg1"/>
                </a:solidFill>
              </a:rPr>
              <a:t> </a:t>
            </a:r>
            <a:r>
              <a:rPr sz="1200" dirty="0" err="1">
                <a:solidFill>
                  <a:schemeClr val="bg1"/>
                </a:solidFill>
              </a:rPr>
              <a:t>Raíz</a:t>
            </a:r>
            <a:r>
              <a:rPr sz="1200" dirty="0">
                <a:solidFill>
                  <a:schemeClr val="bg1"/>
                </a:solidFill>
              </a:rPr>
              <a:t> </a:t>
            </a:r>
            <a:r>
              <a:rPr sz="1200" dirty="0" err="1">
                <a:solidFill>
                  <a:schemeClr val="bg1"/>
                </a:solidFill>
              </a:rPr>
              <a:t>Identificadas</a:t>
            </a:r>
            <a:r>
              <a:rPr sz="1200" dirty="0">
                <a:solidFill>
                  <a:schemeClr val="bg1"/>
                </a:solidFill>
              </a:rPr>
              <a:t>:</a:t>
            </a:r>
          </a:p>
          <a:p>
            <a:endParaRPr sz="1200" dirty="0">
              <a:solidFill>
                <a:schemeClr val="bg1"/>
              </a:solidFill>
            </a:endParaRPr>
          </a:p>
          <a:p>
            <a:r>
              <a:rPr sz="1200" dirty="0">
                <a:solidFill>
                  <a:schemeClr val="bg1"/>
                </a:solidFill>
              </a:rPr>
              <a:t>1️⃣ Calidad Técnica (CRÍTICO):</a:t>
            </a:r>
          </a:p>
          <a:p>
            <a:r>
              <a:rPr sz="1200" dirty="0">
                <a:solidFill>
                  <a:schemeClr val="bg1"/>
                </a:solidFill>
              </a:rPr>
              <a:t>   • 5 </a:t>
            </a:r>
            <a:r>
              <a:rPr sz="1200" dirty="0" err="1">
                <a:solidFill>
                  <a:schemeClr val="bg1"/>
                </a:solidFill>
              </a:rPr>
              <a:t>historias</a:t>
            </a:r>
            <a:r>
              <a:rPr sz="1200" dirty="0">
                <a:solidFill>
                  <a:schemeClr val="bg1"/>
                </a:solidFill>
              </a:rPr>
              <a:t> "Done" sin commits</a:t>
            </a:r>
          </a:p>
          <a:p>
            <a:r>
              <a:rPr sz="1200" dirty="0">
                <a:solidFill>
                  <a:schemeClr val="bg1"/>
                </a:solidFill>
              </a:rPr>
              <a:t>   • </a:t>
            </a:r>
            <a:r>
              <a:rPr sz="1200" dirty="0" err="1">
                <a:solidFill>
                  <a:schemeClr val="bg1"/>
                </a:solidFill>
              </a:rPr>
              <a:t>Cobertura</a:t>
            </a:r>
            <a:r>
              <a:rPr sz="1200" dirty="0">
                <a:solidFill>
                  <a:schemeClr val="bg1"/>
                </a:solidFill>
              </a:rPr>
              <a:t> tests: 32% (</a:t>
            </a:r>
            <a:r>
              <a:rPr sz="1200" dirty="0" err="1">
                <a:solidFill>
                  <a:schemeClr val="bg1"/>
                </a:solidFill>
              </a:rPr>
              <a:t>objetivo</a:t>
            </a:r>
            <a:r>
              <a:rPr sz="1200" dirty="0">
                <a:solidFill>
                  <a:schemeClr val="bg1"/>
                </a:solidFill>
              </a:rPr>
              <a:t>: 80%)</a:t>
            </a:r>
          </a:p>
          <a:p>
            <a:r>
              <a:rPr sz="1200" dirty="0">
                <a:solidFill>
                  <a:schemeClr val="bg1"/>
                </a:solidFill>
              </a:rPr>
              <a:t>   • </a:t>
            </a:r>
            <a:r>
              <a:rPr sz="1200" dirty="0" err="1">
                <a:solidFill>
                  <a:schemeClr val="bg1"/>
                </a:solidFill>
              </a:rPr>
              <a:t>Deuda</a:t>
            </a:r>
            <a:r>
              <a:rPr sz="1200" dirty="0">
                <a:solidFill>
                  <a:schemeClr val="bg1"/>
                </a:solidFill>
              </a:rPr>
              <a:t> </a:t>
            </a:r>
            <a:r>
              <a:rPr sz="1200" dirty="0" err="1">
                <a:solidFill>
                  <a:schemeClr val="bg1"/>
                </a:solidFill>
              </a:rPr>
              <a:t>técnica</a:t>
            </a:r>
            <a:r>
              <a:rPr sz="1200" dirty="0">
                <a:solidFill>
                  <a:schemeClr val="bg1"/>
                </a:solidFill>
              </a:rPr>
              <a:t>: +40% </a:t>
            </a:r>
            <a:r>
              <a:rPr sz="1200" dirty="0" err="1">
                <a:solidFill>
                  <a:schemeClr val="bg1"/>
                </a:solidFill>
              </a:rPr>
              <a:t>último</a:t>
            </a:r>
            <a:r>
              <a:rPr sz="1200" dirty="0">
                <a:solidFill>
                  <a:schemeClr val="bg1"/>
                </a:solidFill>
              </a:rPr>
              <a:t> sprint</a:t>
            </a:r>
          </a:p>
          <a:p>
            <a:endParaRPr sz="1200" dirty="0">
              <a:solidFill>
                <a:schemeClr val="bg1"/>
              </a:solidFill>
            </a:endParaRPr>
          </a:p>
          <a:p>
            <a:r>
              <a:rPr sz="1200" dirty="0">
                <a:solidFill>
                  <a:schemeClr val="bg1"/>
                </a:solidFill>
              </a:rPr>
              <a:t>2️⃣ </a:t>
            </a:r>
            <a:r>
              <a:rPr sz="1200" dirty="0" err="1">
                <a:solidFill>
                  <a:schemeClr val="bg1"/>
                </a:solidFill>
              </a:rPr>
              <a:t>Desviación</a:t>
            </a:r>
            <a:r>
              <a:rPr sz="1200" dirty="0">
                <a:solidFill>
                  <a:schemeClr val="bg1"/>
                </a:solidFill>
              </a:rPr>
              <a:t> Financiera (ALTO):</a:t>
            </a:r>
          </a:p>
          <a:p>
            <a:r>
              <a:rPr sz="1200" dirty="0">
                <a:solidFill>
                  <a:schemeClr val="bg1"/>
                </a:solidFill>
              </a:rPr>
              <a:t>   • Avance: 75% | </a:t>
            </a:r>
            <a:r>
              <a:rPr sz="1200" dirty="0" err="1">
                <a:solidFill>
                  <a:schemeClr val="bg1"/>
                </a:solidFill>
              </a:rPr>
              <a:t>Presupuesto</a:t>
            </a:r>
            <a:r>
              <a:rPr sz="1200" dirty="0">
                <a:solidFill>
                  <a:schemeClr val="bg1"/>
                </a:solidFill>
              </a:rPr>
              <a:t>: 52%</a:t>
            </a:r>
          </a:p>
          <a:p>
            <a:r>
              <a:rPr sz="1200" dirty="0">
                <a:solidFill>
                  <a:schemeClr val="bg1"/>
                </a:solidFill>
              </a:rPr>
              <a:t>   • Brecha: 23% </a:t>
            </a:r>
            <a:r>
              <a:rPr sz="1200" dirty="0" err="1">
                <a:solidFill>
                  <a:schemeClr val="bg1"/>
                </a:solidFill>
              </a:rPr>
              <a:t>sobre-declaración</a:t>
            </a:r>
            <a:endParaRPr sz="1200"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754880" y="1828800"/>
            <a:ext cx="3931920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8FAFC"/>
                </a:solidFill>
              </a:defRPr>
            </a:pPr>
            <a:r>
              <a:rPr sz="1200" dirty="0">
                <a:solidFill>
                  <a:schemeClr val="bg1"/>
                </a:solidFill>
              </a:rPr>
              <a:t>💡 Plan de </a:t>
            </a:r>
            <a:r>
              <a:rPr sz="1200" dirty="0" err="1">
                <a:solidFill>
                  <a:schemeClr val="bg1"/>
                </a:solidFill>
              </a:rPr>
              <a:t>Mitigación</a:t>
            </a:r>
            <a:r>
              <a:rPr sz="1200" dirty="0">
                <a:solidFill>
                  <a:schemeClr val="bg1"/>
                </a:solidFill>
              </a:rPr>
              <a:t> (ROI 4.8x):</a:t>
            </a:r>
          </a:p>
          <a:p>
            <a:endParaRPr sz="1200" dirty="0">
              <a:solidFill>
                <a:schemeClr val="bg1"/>
              </a:solidFill>
            </a:endParaRPr>
          </a:p>
          <a:p>
            <a:r>
              <a:rPr sz="1200" dirty="0">
                <a:solidFill>
                  <a:schemeClr val="bg1"/>
                </a:solidFill>
              </a:rPr>
              <a:t>🔴 URGENTE (48h):</a:t>
            </a:r>
          </a:p>
          <a:p>
            <a:r>
              <a:rPr sz="1200" dirty="0">
                <a:solidFill>
                  <a:schemeClr val="bg1"/>
                </a:solidFill>
              </a:rPr>
              <a:t>   ✓ </a:t>
            </a:r>
            <a:r>
              <a:rPr sz="1200" dirty="0" err="1">
                <a:solidFill>
                  <a:schemeClr val="bg1"/>
                </a:solidFill>
              </a:rPr>
              <a:t>Bloquear</a:t>
            </a:r>
            <a:r>
              <a:rPr sz="1200" dirty="0">
                <a:solidFill>
                  <a:schemeClr val="bg1"/>
                </a:solidFill>
              </a:rPr>
              <a:t> issues sin </a:t>
            </a:r>
            <a:r>
              <a:rPr sz="1200" dirty="0" err="1">
                <a:solidFill>
                  <a:schemeClr val="bg1"/>
                </a:solidFill>
              </a:rPr>
              <a:t>validación</a:t>
            </a:r>
            <a:endParaRPr sz="1200" dirty="0">
              <a:solidFill>
                <a:schemeClr val="bg1"/>
              </a:solidFill>
            </a:endParaRPr>
          </a:p>
          <a:p>
            <a:r>
              <a:rPr sz="1200" dirty="0">
                <a:solidFill>
                  <a:schemeClr val="bg1"/>
                </a:solidFill>
              </a:rPr>
              <a:t>     → </a:t>
            </a:r>
            <a:r>
              <a:rPr sz="1200" dirty="0" err="1">
                <a:solidFill>
                  <a:schemeClr val="bg1"/>
                </a:solidFill>
              </a:rPr>
              <a:t>Previene</a:t>
            </a:r>
            <a:r>
              <a:rPr sz="1200" dirty="0">
                <a:solidFill>
                  <a:schemeClr val="bg1"/>
                </a:solidFill>
              </a:rPr>
              <a:t> $12-18K bugs</a:t>
            </a:r>
          </a:p>
          <a:p>
            <a:r>
              <a:rPr sz="1200" dirty="0">
                <a:solidFill>
                  <a:schemeClr val="bg1"/>
                </a:solidFill>
              </a:rPr>
              <a:t>   ✓ </a:t>
            </a:r>
            <a:r>
              <a:rPr sz="1200" dirty="0" err="1">
                <a:solidFill>
                  <a:schemeClr val="bg1"/>
                </a:solidFill>
              </a:rPr>
              <a:t>Reunión</a:t>
            </a:r>
            <a:r>
              <a:rPr sz="1200" dirty="0">
                <a:solidFill>
                  <a:schemeClr val="bg1"/>
                </a:solidFill>
              </a:rPr>
              <a:t> CFO+PMO: Brecha 23%</a:t>
            </a:r>
          </a:p>
          <a:p>
            <a:r>
              <a:rPr sz="1200" dirty="0">
                <a:solidFill>
                  <a:schemeClr val="bg1"/>
                </a:solidFill>
              </a:rPr>
              <a:t>     → Evita $35-45K </a:t>
            </a:r>
            <a:r>
              <a:rPr sz="1200" dirty="0" err="1">
                <a:solidFill>
                  <a:schemeClr val="bg1"/>
                </a:solidFill>
              </a:rPr>
              <a:t>sobrecosto</a:t>
            </a:r>
            <a:endParaRPr sz="1200" dirty="0">
              <a:solidFill>
                <a:schemeClr val="bg1"/>
              </a:solidFill>
            </a:endParaRPr>
          </a:p>
          <a:p>
            <a:endParaRPr sz="1200" dirty="0">
              <a:solidFill>
                <a:schemeClr val="bg1"/>
              </a:solidFill>
            </a:endParaRPr>
          </a:p>
          <a:p>
            <a:r>
              <a:rPr sz="1200" dirty="0">
                <a:solidFill>
                  <a:schemeClr val="bg1"/>
                </a:solidFill>
              </a:rPr>
              <a:t>🟡 IMPORTANTE (1 </a:t>
            </a:r>
            <a:r>
              <a:rPr sz="1200" dirty="0" err="1">
                <a:solidFill>
                  <a:schemeClr val="bg1"/>
                </a:solidFill>
              </a:rPr>
              <a:t>semana</a:t>
            </a:r>
            <a:r>
              <a:rPr sz="1200" dirty="0">
                <a:solidFill>
                  <a:schemeClr val="bg1"/>
                </a:solidFill>
              </a:rPr>
              <a:t>):</a:t>
            </a:r>
          </a:p>
          <a:p>
            <a:r>
              <a:rPr sz="1200" dirty="0">
                <a:solidFill>
                  <a:schemeClr val="bg1"/>
                </a:solidFill>
              </a:rPr>
              <a:t>   ✓ Sprint refactoring ($8K)</a:t>
            </a:r>
          </a:p>
          <a:p>
            <a:r>
              <a:rPr sz="1200" dirty="0">
                <a:solidFill>
                  <a:schemeClr val="bg1"/>
                </a:solidFill>
              </a:rPr>
              <a:t>     → </a:t>
            </a:r>
            <a:r>
              <a:rPr sz="1200" dirty="0" err="1">
                <a:solidFill>
                  <a:schemeClr val="bg1"/>
                </a:solidFill>
              </a:rPr>
              <a:t>Ahorra</a:t>
            </a:r>
            <a:r>
              <a:rPr sz="1200" dirty="0">
                <a:solidFill>
                  <a:schemeClr val="bg1"/>
                </a:solidFill>
              </a:rPr>
              <a:t> $42-68K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💰 ROI: Inversión $14K | Ahorro $67-85K | ROI 4.8x - 6.1x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3B82F6"/>
                </a:solidFill>
              </a:defRPr>
            </a:pPr>
            <a:r>
              <a:t>Impacto Medible: Antes vs. Después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4572000" cy="2000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F8FAFC"/>
                </a:solidFill>
              </a:defRPr>
            </a:pPr>
            <a:r>
              <a:rPr dirty="0"/>
              <a:t>MÉTRICAS CLAVE:</a:t>
            </a:r>
          </a:p>
          <a:p>
            <a:endParaRPr sz="1400" dirty="0">
              <a:solidFill>
                <a:schemeClr val="bg1"/>
              </a:solidFill>
            </a:endParaRPr>
          </a:p>
          <a:p>
            <a:r>
              <a:rPr sz="1400" dirty="0">
                <a:solidFill>
                  <a:schemeClr val="bg1"/>
                </a:solidFill>
              </a:rPr>
              <a:t>❌ SIN Sistema  →  ✅ CON Sistema  →  📊 </a:t>
            </a:r>
            <a:r>
              <a:rPr sz="1400" dirty="0" err="1">
                <a:solidFill>
                  <a:schemeClr val="bg1"/>
                </a:solidFill>
              </a:rPr>
              <a:t>Mejora</a:t>
            </a:r>
            <a:endParaRPr sz="1400" dirty="0">
              <a:solidFill>
                <a:schemeClr val="bg1"/>
              </a:solidFill>
            </a:endParaRPr>
          </a:p>
          <a:p>
            <a:endParaRPr sz="1400" dirty="0">
              <a:solidFill>
                <a:schemeClr val="bg1"/>
              </a:solidFill>
            </a:endParaRPr>
          </a:p>
          <a:p>
            <a:r>
              <a:rPr sz="1400" dirty="0">
                <a:solidFill>
                  <a:schemeClr val="bg1"/>
                </a:solidFill>
              </a:rPr>
              <a:t>Tiempo </a:t>
            </a:r>
            <a:r>
              <a:rPr sz="1400" dirty="0" err="1">
                <a:solidFill>
                  <a:schemeClr val="bg1"/>
                </a:solidFill>
              </a:rPr>
              <a:t>detección</a:t>
            </a:r>
            <a:r>
              <a:rPr sz="1400" dirty="0">
                <a:solidFill>
                  <a:schemeClr val="bg1"/>
                </a:solidFill>
              </a:rPr>
              <a:t>: 15-20 días  →  30-45 días  →  +100%</a:t>
            </a:r>
          </a:p>
          <a:p>
            <a:r>
              <a:rPr sz="1400" dirty="0" err="1">
                <a:solidFill>
                  <a:schemeClr val="bg1"/>
                </a:solidFill>
              </a:rPr>
              <a:t>Precisión</a:t>
            </a:r>
            <a:r>
              <a:rPr sz="1400" dirty="0">
                <a:solidFill>
                  <a:schemeClr val="bg1"/>
                </a:solidFill>
              </a:rPr>
              <a:t> </a:t>
            </a:r>
            <a:r>
              <a:rPr sz="1400" dirty="0" err="1">
                <a:solidFill>
                  <a:schemeClr val="bg1"/>
                </a:solidFill>
              </a:rPr>
              <a:t>predicción</a:t>
            </a:r>
            <a:r>
              <a:rPr sz="1400" dirty="0">
                <a:solidFill>
                  <a:schemeClr val="bg1"/>
                </a:solidFill>
              </a:rPr>
              <a:t>: 40-50%  →  85-92%  →  +80%</a:t>
            </a:r>
          </a:p>
          <a:p>
            <a:r>
              <a:rPr sz="1400" dirty="0" err="1">
                <a:solidFill>
                  <a:schemeClr val="bg1"/>
                </a:solidFill>
              </a:rPr>
              <a:t>Sobrecostos</a:t>
            </a:r>
            <a:r>
              <a:rPr sz="1400" dirty="0">
                <a:solidFill>
                  <a:schemeClr val="bg1"/>
                </a:solidFill>
              </a:rPr>
              <a:t>: 15-20%  →  3-5%  →  -75%</a:t>
            </a:r>
          </a:p>
          <a:p>
            <a:r>
              <a:rPr sz="1400" dirty="0">
                <a:solidFill>
                  <a:schemeClr val="bg1"/>
                </a:solidFill>
              </a:rPr>
              <a:t>Proyectos </a:t>
            </a:r>
            <a:r>
              <a:rPr sz="1400" dirty="0" err="1">
                <a:solidFill>
                  <a:schemeClr val="bg1"/>
                </a:solidFill>
              </a:rPr>
              <a:t>en</a:t>
            </a:r>
            <a:r>
              <a:rPr sz="1400" dirty="0">
                <a:solidFill>
                  <a:schemeClr val="bg1"/>
                </a:solidFill>
              </a:rPr>
              <a:t> </a:t>
            </a:r>
            <a:r>
              <a:rPr sz="1400" dirty="0" err="1">
                <a:solidFill>
                  <a:schemeClr val="bg1"/>
                </a:solidFill>
              </a:rPr>
              <a:t>margen</a:t>
            </a:r>
            <a:r>
              <a:rPr sz="1400" dirty="0">
                <a:solidFill>
                  <a:schemeClr val="bg1"/>
                </a:solidFill>
              </a:rPr>
              <a:t>: 35%  →  78%  →  +123%</a:t>
            </a:r>
          </a:p>
          <a:p>
            <a:r>
              <a:rPr sz="1400" dirty="0">
                <a:solidFill>
                  <a:schemeClr val="bg1"/>
                </a:solidFill>
              </a:rPr>
              <a:t>Bugs post-deploy: 28  →  9  →  -68%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80" y="1188720"/>
            <a:ext cx="3474720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0B981"/>
                </a:solidFill>
              </a:defRPr>
            </a:pPr>
            <a:r>
              <a:rPr dirty="0"/>
              <a:t>ROI POR TIPO DE PROYECTO:</a:t>
            </a:r>
          </a:p>
          <a:p>
            <a:endParaRPr sz="1200" dirty="0">
              <a:solidFill>
                <a:schemeClr val="bg1"/>
              </a:solidFill>
            </a:endParaRPr>
          </a:p>
          <a:p>
            <a:r>
              <a:rPr sz="1200" dirty="0">
                <a:solidFill>
                  <a:schemeClr val="bg1"/>
                </a:solidFill>
              </a:rPr>
              <a:t>Proyecto $200K:</a:t>
            </a:r>
          </a:p>
          <a:p>
            <a:r>
              <a:rPr sz="1200" dirty="0">
                <a:solidFill>
                  <a:schemeClr val="bg1"/>
                </a:solidFill>
              </a:rPr>
              <a:t>  </a:t>
            </a:r>
            <a:r>
              <a:rPr sz="1200" dirty="0" err="1">
                <a:solidFill>
                  <a:schemeClr val="bg1"/>
                </a:solidFill>
              </a:rPr>
              <a:t>Inversión</a:t>
            </a:r>
            <a:r>
              <a:rPr sz="1200" dirty="0">
                <a:solidFill>
                  <a:schemeClr val="bg1"/>
                </a:solidFill>
              </a:rPr>
              <a:t> $2K | </a:t>
            </a:r>
            <a:r>
              <a:rPr sz="1200" dirty="0" err="1">
                <a:solidFill>
                  <a:schemeClr val="bg1"/>
                </a:solidFill>
              </a:rPr>
              <a:t>Ahorro</a:t>
            </a:r>
            <a:r>
              <a:rPr sz="1200" dirty="0">
                <a:solidFill>
                  <a:schemeClr val="bg1"/>
                </a:solidFill>
              </a:rPr>
              <a:t> $26K</a:t>
            </a:r>
          </a:p>
          <a:p>
            <a:r>
              <a:rPr sz="1200" dirty="0">
                <a:solidFill>
                  <a:schemeClr val="bg1"/>
                </a:solidFill>
              </a:rPr>
              <a:t>  → ROI: 13.0x</a:t>
            </a:r>
          </a:p>
          <a:p>
            <a:endParaRPr sz="1200" dirty="0">
              <a:solidFill>
                <a:schemeClr val="bg1"/>
              </a:solidFill>
            </a:endParaRPr>
          </a:p>
          <a:p>
            <a:r>
              <a:rPr sz="1200" dirty="0">
                <a:solidFill>
                  <a:schemeClr val="bg1"/>
                </a:solidFill>
              </a:rPr>
              <a:t>Proyecto $500K:</a:t>
            </a:r>
          </a:p>
          <a:p>
            <a:r>
              <a:rPr sz="1200" dirty="0">
                <a:solidFill>
                  <a:schemeClr val="bg1"/>
                </a:solidFill>
              </a:rPr>
              <a:t>  </a:t>
            </a:r>
            <a:r>
              <a:rPr sz="1200" dirty="0" err="1">
                <a:solidFill>
                  <a:schemeClr val="bg1"/>
                </a:solidFill>
              </a:rPr>
              <a:t>Inversión</a:t>
            </a:r>
            <a:r>
              <a:rPr sz="1200" dirty="0">
                <a:solidFill>
                  <a:schemeClr val="bg1"/>
                </a:solidFill>
              </a:rPr>
              <a:t> $3K | </a:t>
            </a:r>
            <a:r>
              <a:rPr sz="1200" dirty="0" err="1">
                <a:solidFill>
                  <a:schemeClr val="bg1"/>
                </a:solidFill>
              </a:rPr>
              <a:t>Ahorro</a:t>
            </a:r>
            <a:r>
              <a:rPr sz="1200" dirty="0">
                <a:solidFill>
                  <a:schemeClr val="bg1"/>
                </a:solidFill>
              </a:rPr>
              <a:t> $107K</a:t>
            </a:r>
          </a:p>
          <a:p>
            <a:r>
              <a:rPr sz="1200" dirty="0">
                <a:solidFill>
                  <a:schemeClr val="bg1"/>
                </a:solidFill>
              </a:rPr>
              <a:t>  → ROI: 35.7x</a:t>
            </a:r>
          </a:p>
          <a:p>
            <a:endParaRPr sz="1200" dirty="0">
              <a:solidFill>
                <a:schemeClr val="bg1"/>
              </a:solidFill>
            </a:endParaRPr>
          </a:p>
          <a:p>
            <a:r>
              <a:rPr sz="1200" dirty="0">
                <a:solidFill>
                  <a:schemeClr val="bg1"/>
                </a:solidFill>
              </a:rPr>
              <a:t>Proyecto $2M:</a:t>
            </a:r>
          </a:p>
          <a:p>
            <a:r>
              <a:rPr sz="1200" dirty="0">
                <a:solidFill>
                  <a:schemeClr val="bg1"/>
                </a:solidFill>
              </a:rPr>
              <a:t>  </a:t>
            </a:r>
            <a:r>
              <a:rPr sz="1200" dirty="0" err="1">
                <a:solidFill>
                  <a:schemeClr val="bg1"/>
                </a:solidFill>
              </a:rPr>
              <a:t>Inversión</a:t>
            </a:r>
            <a:r>
              <a:rPr sz="1200" dirty="0">
                <a:solidFill>
                  <a:schemeClr val="bg1"/>
                </a:solidFill>
              </a:rPr>
              <a:t> $5K | </a:t>
            </a:r>
            <a:r>
              <a:rPr sz="1200" dirty="0" err="1">
                <a:solidFill>
                  <a:schemeClr val="bg1"/>
                </a:solidFill>
              </a:rPr>
              <a:t>Ahorro</a:t>
            </a:r>
            <a:r>
              <a:rPr sz="1200" dirty="0">
                <a:solidFill>
                  <a:schemeClr val="bg1"/>
                </a:solidFill>
              </a:rPr>
              <a:t> $450K</a:t>
            </a:r>
          </a:p>
          <a:p>
            <a:r>
              <a:rPr sz="1200" dirty="0">
                <a:solidFill>
                  <a:schemeClr val="bg1"/>
                </a:solidFill>
              </a:rPr>
              <a:t>  → ROI: 90.0x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B82F6"/>
                </a:solidFill>
              </a:defRPr>
            </a:pPr>
            <a:r>
              <a:rPr dirty="0"/>
              <a:t>Impacto </a:t>
            </a:r>
            <a:r>
              <a:rPr dirty="0" err="1"/>
              <a:t>anual</a:t>
            </a:r>
            <a:r>
              <a:rPr dirty="0"/>
              <a:t> (25 </a:t>
            </a:r>
            <a:r>
              <a:rPr dirty="0" err="1"/>
              <a:t>proyectos</a:t>
            </a:r>
            <a:r>
              <a:rPr dirty="0"/>
              <a:t>): </a:t>
            </a:r>
            <a:r>
              <a:rPr dirty="0" err="1"/>
              <a:t>Ahorro</a:t>
            </a:r>
            <a:r>
              <a:rPr dirty="0"/>
              <a:t> $1.82M | ROI 24.3x | Payback 1.6 meses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3B82F6"/>
                </a:solidFill>
              </a:defRPr>
            </a:pPr>
            <a:r>
              <a:t>Stack Tecnológico: Moderno y Escalable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B82F6"/>
                </a:solidFill>
              </a:defRPr>
            </a:pPr>
            <a:r>
              <a:t>🎨 Frontend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B82F6"/>
                </a:solidFill>
              </a:defRPr>
            </a:pPr>
            <a:r>
              <a:t>⚙️ Backend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688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B82F6"/>
                </a:solidFill>
              </a:defRPr>
            </a:pPr>
            <a:r>
              <a:t>🤖 IA/ML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1089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B82F6"/>
                </a:solidFill>
              </a:defRPr>
            </a:pPr>
            <a:r>
              <a:t>🗄️ Datos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74903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B82F6"/>
                </a:solidFill>
              </a:defRPr>
            </a:pPr>
            <a:r>
              <a:t>🔌 Conectores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3749039"/>
            <a:ext cx="5852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8FAFC"/>
                </a:solidFill>
              </a:defRPr>
            </a:pPr>
            <a:r>
              <a:t>Jira • GitHub/GitLab • SonarQube • ONE ERP • Azure Doc Intelligence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609</Words>
  <Application>Microsoft Office PowerPoint</Application>
  <PresentationFormat>Presentación en pantalla (16:9)</PresentationFormat>
  <Paragraphs>93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Claudio Armando Vidal Mendoza</cp:lastModifiedBy>
  <cp:revision>2</cp:revision>
  <dcterms:created xsi:type="dcterms:W3CDTF">2013-01-27T09:14:16Z</dcterms:created>
  <dcterms:modified xsi:type="dcterms:W3CDTF">2025-12-19T17:31:07Z</dcterms:modified>
  <cp:category/>
</cp:coreProperties>
</file>